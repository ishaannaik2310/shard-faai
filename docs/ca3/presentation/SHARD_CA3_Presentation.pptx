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Segoe UI"/>
              </a:defRPr>
            </a:pPr>
            <a:r>
              <a:t>CA-3 FOUNDATIONS OF AGENTIC AI · TECHNICAL VIVA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SHARD: Adversarial Multi-Agent</a:t>
            </a:r>
            <a:br/>
            <a:r>
              <a:t>Insurance Claims Auditor</a:t>
            </a:r>
          </a:p>
          <a:p>
            <a:pPr>
              <a:spcBef>
                <a:spcPts val="1200"/>
              </a:spcBef>
              <a:defRPr sz="1500">
                <a:solidFill>
                  <a:srgbClr val="AAB9CD"/>
                </a:solidFill>
                <a:latin typeface="Segoe UI"/>
              </a:defRPr>
            </a:pPr>
            <a:r>
              <a:t>Closed-Loop Adversarial Feedback, Deterministic Verification Tools, and Bounded Safety Gates for Motor Fraud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3291840" cy="16459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AA9FF"/>
                </a:solidFill>
                <a:latin typeface="Segoe UI"/>
              </a:defRPr>
            </a:pPr>
            <a:r>
              <a:t>Academic Scope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Course: </a:t>
            </a:r>
            <a:r>
              <a:rPr sz="1200">
                <a:solidFill>
                  <a:srgbClr val="AAB9CD"/>
                </a:solidFill>
                <a:latin typeface="Segoe UI"/>
              </a:rPr>
              <a:t>CA-3 Foundations of Agentic AI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Domain: </a:t>
            </a:r>
            <a:r>
              <a:rPr sz="1200">
                <a:solidFill>
                  <a:srgbClr val="AAB9CD"/>
                </a:solidFill>
                <a:latin typeface="Segoe UI"/>
              </a:rPr>
              <a:t>Motor Insurance Claims (UK Context)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Architecture: </a:t>
            </a:r>
            <a:r>
              <a:rPr sz="1200">
                <a:solidFill>
                  <a:srgbClr val="AAB9CD"/>
                </a:solidFill>
                <a:latin typeface="Segoe UI"/>
              </a:rPr>
              <a:t>7 Specialized Agents (Pure Python)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297680"/>
            <a:ext cx="3291840" cy="16459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Design Philosophy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Deterministic: </a:t>
            </a:r>
            <a:r>
              <a:rPr sz="1200">
                <a:solidFill>
                  <a:srgbClr val="AAB9CD"/>
                </a:solidFill>
                <a:latin typeface="Segoe UI"/>
              </a:rPr>
              <a:t>No LLM hallucinations or code eval()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Auditable: </a:t>
            </a:r>
            <a:r>
              <a:rPr sz="1200">
                <a:solidFill>
                  <a:srgbClr val="AAB9CD"/>
                </a:solidFill>
                <a:latin typeface="Segoe UI"/>
              </a:rPr>
              <a:t>100% findings &amp; structured JSON-L trail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Zero Leakage: </a:t>
            </a:r>
            <a:r>
              <a:rPr sz="1200">
                <a:solidFill>
                  <a:srgbClr val="AAB9CD"/>
                </a:solidFill>
                <a:latin typeface="Segoe UI"/>
              </a:rPr>
              <a:t>Strict TI-01 Ground-Truth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297680"/>
            <a:ext cx="3291840" cy="16459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B388FF"/>
                </a:solidFill>
                <a:latin typeface="Segoe UI"/>
              </a:defRPr>
            </a:pPr>
            <a:r>
              <a:t>Key Deliverables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Streamlit PoC: </a:t>
            </a:r>
            <a:r>
              <a:rPr sz="1200">
                <a:solidFill>
                  <a:srgbClr val="AAB9CD"/>
                </a:solidFill>
                <a:latin typeface="Segoe UI"/>
              </a:rPr>
              <a:t>6-Tab Control Room (Port 8501)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 Suite: </a:t>
            </a:r>
            <a:r>
              <a:rPr sz="1200">
                <a:solidFill>
                  <a:srgbClr val="AAB9CD"/>
                </a:solidFill>
                <a:latin typeface="Segoe UI"/>
              </a:rPr>
              <a:t>146 Tests Passing Across 10 Modules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Safety Gate: </a:t>
            </a:r>
            <a:r>
              <a:rPr sz="1200">
                <a:solidFill>
                  <a:srgbClr val="AAB9CD"/>
                </a:solidFill>
                <a:latin typeface="Segoe UI"/>
              </a:rPr>
              <a:t>Gate B False-Positive Budget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DOMAIN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Static Rulebook Dilemma in Motor Fraud Detection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Why traditional rule engines degrade over time and fail against adaptive fraud syndicates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9457"/>
                </a:solidFill>
                <a:latin typeface="Segoe UI"/>
              </a:defRPr>
            </a:pPr>
            <a:r>
              <a:t>Traditional Operational Failure Modes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Structural Rule-Lag: </a:t>
            </a:r>
            <a:r>
              <a:rPr sz="1200">
                <a:solidFill>
                  <a:srgbClr val="AAB9CD"/>
                </a:solidFill>
                <a:latin typeface="Segoe UI"/>
              </a:rPr>
              <a:t>Rules written for pattern A cannot catch pattern B until human adjusters identify, document, and manually codify new rules months later.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Organised Adaptation: </a:t>
            </a:r>
            <a:r>
              <a:rPr sz="1200">
                <a:solidFill>
                  <a:srgbClr val="AAB9CD"/>
                </a:solidFill>
                <a:latin typeface="Segoe UI"/>
              </a:rPr>
              <a:t>Fraudsters quickly discover static thresholds (e.g., claiming £1,950 when £2,000 triggers audit) and modify claiming behavior.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Zero Pre-Deployment Safeguards: </a:t>
            </a:r>
            <a:r>
              <a:rPr sz="1200">
                <a:solidFill>
                  <a:srgbClr val="AAB9CD"/>
                </a:solidFill>
                <a:latin typeface="Segoe UI"/>
              </a:rPr>
              <a:t>Insurers lack mechanisms to stress-test proposed rule changes against historical genuine claims, risking surging false positive rates.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Investigation Fatigue: </a:t>
            </a:r>
            <a:r>
              <a:rPr sz="1200">
                <a:solidFill>
                  <a:srgbClr val="AAB9CD"/>
                </a:solidFill>
                <a:latin typeface="Segoe UI"/>
              </a:rPr>
              <a:t>Over-aggressive rules overwhelm human adjusters with false referrals, inflating operational friction and claims settlement delays.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Explainability Deficit: </a:t>
            </a:r>
            <a:r>
              <a:rPr sz="1200">
                <a:solidFill>
                  <a:srgbClr val="AAB9CD"/>
                </a:solidFill>
                <a:latin typeface="Segoe UI"/>
              </a:rPr>
              <a:t>Black-box ML models output opaque risk scores without legally defensible statutory evidence or verifiable itemized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8A"/>
                </a:solidFill>
                <a:latin typeface="Segoe UI"/>
              </a:defRPr>
            </a:pPr>
            <a:r>
              <a:t>The 5 Motor Fraud Typologies In Scope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Exaggerated Repair Quote: </a:t>
            </a:r>
            <a:r>
              <a:rPr sz="1200">
                <a:solidFill>
                  <a:srgbClr val="AAB9CD"/>
                </a:solidFill>
                <a:latin typeface="Segoe UI"/>
              </a:rPr>
              <a:t>Garages inflate part prices and labor rates beyond independent model benchmarks (excess ratio markup).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Staged Collision: </a:t>
            </a:r>
            <a:r>
              <a:rPr sz="1200">
                <a:solidFill>
                  <a:srgbClr val="AAB9CD"/>
                </a:solidFill>
                <a:latin typeface="Segoe UI"/>
              </a:rPr>
              <a:t>Collusive claimant-provider rings create synthetic accidents with high interconnected graph densities.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Ghost Vehicle: </a:t>
            </a:r>
            <a:r>
              <a:rPr sz="1200">
                <a:solidFill>
                  <a:srgbClr val="AAB9CD"/>
                </a:solidFill>
                <a:latin typeface="Segoe UI"/>
              </a:rPr>
              <a:t>Claims filed for non-existent registrations or vehicles previously written off under MIAFTR Category A/B.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Pre-Existing Damage: </a:t>
            </a:r>
            <a:r>
              <a:rPr sz="1200">
                <a:solidFill>
                  <a:srgbClr val="AAB9CD"/>
                </a:solidFill>
                <a:latin typeface="Segoe UI"/>
              </a:rPr>
              <a:t>Claimants attempt to repair previous structural damage under a newly reported minor collision event.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Opportunistic Inflation: </a:t>
            </a:r>
            <a:r>
              <a:rPr sz="1200">
                <a:solidFill>
                  <a:srgbClr val="AAB9CD"/>
                </a:solidFill>
                <a:latin typeface="Segoe UI"/>
              </a:rPr>
              <a:t>Legitimate policyholders pad genuine repair invoices with unrelated accessories or arithmetic discrepancies.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AGENTIC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Adversarial Closed-Loop Multi-Agent Architecture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Why single-prompt LLMs fail and how autonomous agent coordination solves structural rule degradation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8A"/>
                </a:solidFill>
                <a:latin typeface="Segoe UI"/>
              </a:defRPr>
            </a:pPr>
            <a:r>
              <a:t>Why Single Prompts Fail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No Planning: </a:t>
            </a:r>
            <a:r>
              <a:rPr sz="1200">
                <a:solidFill>
                  <a:srgbClr val="AAB9CD"/>
                </a:solidFill>
                <a:latin typeface="Segoe UI"/>
              </a:rPr>
              <a:t>A single prompt cannot plan investigation steps dynamically based on observable claim risk factors.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Hallucinated Evidence: </a:t>
            </a:r>
            <a:r>
              <a:rPr sz="1200">
                <a:solidFill>
                  <a:srgbClr val="AAB9CD"/>
                </a:solidFill>
                <a:latin typeface="Segoe UI"/>
              </a:rPr>
              <a:t>LLMs invent plausible-sounding evidence rather than running deterministic mathematical checks.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Evaluation Leakage: </a:t>
            </a:r>
            <a:r>
              <a:rPr sz="1200">
                <a:solidFill>
                  <a:srgbClr val="AAB9CD"/>
                </a:solidFill>
                <a:latin typeface="Segoe UI"/>
              </a:rPr>
              <a:t>Single models easily leak ground-truth labels between test generation and scoring.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No Pre-Flight Safety: </a:t>
            </a:r>
            <a:r>
              <a:rPr sz="1200">
                <a:solidFill>
                  <a:srgbClr val="AAB9CD"/>
                </a:solidFill>
                <a:latin typeface="Segoe UI"/>
              </a:rPr>
              <a:t>Direct code generation (eval/exec) risks unconstrained policy changes that explode false alarms.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Non-Deterministic: </a:t>
            </a:r>
            <a:r>
              <a:rPr sz="1200">
                <a:solidFill>
                  <a:srgbClr val="AAB9CD"/>
                </a:solidFill>
                <a:latin typeface="Segoe UI"/>
              </a:rPr>
              <a:t>Probabilistic output prevents bit-identical reproducibility required in legal insurance audits.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The SHARD Closed-Loop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1. Generation: </a:t>
            </a:r>
            <a:r>
              <a:rPr sz="1200">
                <a:solidFill>
                  <a:srgbClr val="AAB9CD"/>
                </a:solidFill>
                <a:latin typeface="Segoe UI"/>
              </a:rPr>
              <a:t>Fraudster adapts attack distributions; Generator outputs observable claims + sealed GT.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2. Planning &amp; Research: </a:t>
            </a:r>
            <a:r>
              <a:rPr sz="1200">
                <a:solidFill>
                  <a:srgbClr val="AAB9CD"/>
                </a:solidFill>
                <a:latin typeface="Segoe UI"/>
              </a:rPr>
              <a:t>Planner selects 0–6 verification tools; Researcher fetches synthetic registry dossiers.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3. Investigation: </a:t>
            </a:r>
            <a:r>
              <a:rPr sz="1200">
                <a:solidFill>
                  <a:srgbClr val="AAB9CD"/>
                </a:solidFill>
                <a:latin typeface="Segoe UI"/>
              </a:rPr>
              <a:t>Investigator executes deterministic tools, applies rulebook, and emits ClaimDecision.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4. Independent Critic: </a:t>
            </a:r>
            <a:r>
              <a:rPr sz="1200">
                <a:solidFill>
                  <a:srgbClr val="AAB9CD"/>
                </a:solidFill>
                <a:latin typeface="Segoe UI"/>
              </a:rPr>
              <a:t>Critic queries sealed Vault, calculates exact confusion matrix, and diagnoses missed schemes.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5. Bounded Adaptation: </a:t>
            </a:r>
            <a:r>
              <a:rPr sz="1200">
                <a:solidFill>
                  <a:srgbClr val="AAB9CD"/>
                </a:solidFill>
                <a:latin typeface="Segoe UI"/>
              </a:rPr>
              <a:t>Rule-Writer proposes parameter changes; Multi-Gate Validator stress-tests against Gate 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AA9FF"/>
                </a:solidFill>
                <a:latin typeface="Segoe UI"/>
              </a:defRPr>
            </a:pPr>
            <a:r>
              <a:t>Key Agentic Capabilities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Autonomous Triage: </a:t>
            </a:r>
            <a:r>
              <a:rPr sz="1200">
                <a:solidFill>
                  <a:srgbClr val="AAB9CD"/>
                </a:solidFill>
                <a:latin typeface="Segoe UI"/>
              </a:rPr>
              <a:t>Decouples triage recommendation (&lt;25 Approve, 25-59 Refer, &gt;=60 Suspected Fraud).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Dynamic Weight Shift: </a:t>
            </a:r>
            <a:r>
              <a:rPr sz="1200">
                <a:solidFill>
                  <a:srgbClr val="AAB9CD"/>
                </a:solidFill>
                <a:latin typeface="Segoe UI"/>
              </a:rPr>
              <a:t>Dirichlet-smoothed Bayesian adjustment elevates representation of evasive frauds.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Statutory Findings: </a:t>
            </a:r>
            <a:r>
              <a:rPr sz="1200">
                <a:solidFill>
                  <a:srgbClr val="AAB9CD"/>
                </a:solidFill>
                <a:latin typeface="Segoe UI"/>
              </a:rPr>
              <a:t>Every decision mandates non-empty, itemized findings (TI-02 requirement).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Parametric Guardrails: </a:t>
            </a:r>
            <a:r>
              <a:rPr sz="1200">
                <a:solidFill>
                  <a:srgbClr val="AAB9CD"/>
                </a:solidFill>
                <a:latin typeface="Segoe UI"/>
              </a:rPr>
              <a:t>Tuning strictly bounded to predefined templates; zero dynamic code execution.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Structured Event Trail: </a:t>
            </a:r>
            <a:r>
              <a:rPr sz="1200">
                <a:solidFill>
                  <a:srgbClr val="AAB9CD"/>
                </a:solidFill>
                <a:latin typeface="Segoe UI"/>
              </a:rPr>
              <a:t>Structured JSON-lines logger with sequence tracking captures 100% of pipeline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MULTI-AGENT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7 Specialized Agents &amp; Strict Trust Boundaries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Formal separation of concerns with architectural ground-truth isolation (TI-01)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657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9457"/>
                </a:solidFill>
                <a:latin typeface="Segoe UI"/>
              </a:defRPr>
            </a:pPr>
            <a:r>
              <a:t>1. Generation &amp; Vault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Fraudster Agent: </a:t>
            </a:r>
            <a:r>
              <a:rPr sz="1200">
                <a:solidFill>
                  <a:srgbClr val="AAB9CD"/>
                </a:solidFill>
                <a:latin typeface="Segoe UI"/>
              </a:rPr>
              <a:t>Adversarial attacker; updates typology sampling weights across rounds based on redacted miss counts.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Claim Generator: </a:t>
            </a:r>
            <a:r>
              <a:rPr sz="1200">
                <a:solidFill>
                  <a:srgbClr val="AAB9CD"/>
                </a:solidFill>
                <a:latin typeface="Segoe UI"/>
              </a:rPr>
              <a:t>Seeded generator producing realistic UK motor claims with DVLA/MIAFTR synthetic records.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Ground-Truth Vault: </a:t>
            </a:r>
            <a:r>
              <a:rPr sz="1200">
                <a:solidFill>
                  <a:srgbClr val="AAB9CD"/>
                </a:solidFill>
                <a:latin typeface="Segoe UI"/>
              </a:rPr>
              <a:t>Sealed dictionary mapping claim_id -&gt; (is_fraud, typology). RESTRICTED ACCESS (TI-01).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383280" cy="3657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2. Investigation Zone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Planner Agent: </a:t>
            </a:r>
            <a:r>
              <a:rPr sz="1200">
                <a:solidFill>
                  <a:srgbClr val="AAB9CD"/>
                </a:solidFill>
                <a:latin typeface="Segoe UI"/>
              </a:rPr>
              <a:t>Inspects observable claim features; selects ordered verification checks with adjuster rationale.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Research Agent: </a:t>
            </a:r>
            <a:r>
              <a:rPr sz="1200">
                <a:solidFill>
                  <a:srgbClr val="AAB9CD"/>
                </a:solidFill>
                <a:latin typeface="Segoe UI"/>
              </a:rPr>
              <a:t>Retrieves factual evidence dossiers from synthetic registries; strictly non-scoring.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Investigator Agent: </a:t>
            </a:r>
            <a:r>
              <a:rPr sz="1200">
                <a:solidFill>
                  <a:srgbClr val="AAB9CD"/>
                </a:solidFill>
                <a:latin typeface="Segoe UI"/>
              </a:rPr>
              <a:t>Executes deterministic tools, applies versioned Rulebook, and assigns decoupled triage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36576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8A"/>
                </a:solidFill>
                <a:latin typeface="Segoe UI"/>
              </a:defRPr>
            </a:pPr>
            <a:r>
              <a:t>3. Evaluation &amp; Adaptation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Critic Agent: </a:t>
            </a:r>
            <a:r>
              <a:rPr sz="1200">
                <a:solidFill>
                  <a:srgbClr val="AAB9CD"/>
                </a:solidFill>
                <a:latin typeface="Segoe UI"/>
              </a:rPr>
              <a:t>ONLY agent authorised to read Vault; computes exact classification metrics &amp; diagnoses evasion.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Rule-Writer Agent: </a:t>
            </a:r>
            <a:r>
              <a:rPr sz="1200">
                <a:solidFill>
                  <a:srgbClr val="AAB9CD"/>
                </a:solidFill>
                <a:latin typeface="Segoe UI"/>
              </a:rPr>
              <a:t>Proposes bounded parameter adjustments targeting diagnosed evasions; zero code generation.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Multi-Gate Validator: </a:t>
            </a:r>
            <a:r>
              <a:rPr sz="1200">
                <a:solidFill>
                  <a:srgbClr val="AAB9CD"/>
                </a:solidFill>
                <a:latin typeface="Segoe UI"/>
              </a:rPr>
              <a:t>Runs 4 safety gates including Gate B FP budget check before committing rule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91423"/>
          </a:solidFill>
          <a:ln w="190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6B8A"/>
                </a:solidFill>
                <a:latin typeface="Segoe UI"/>
              </a:defRPr>
            </a:pPr>
            <a:r>
              <a:t>ARCHITECTURAL TRUST BOUNDARY (TI-01 &amp; TI-06 ENFORCEMENT):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Investigation agents (Planner, Researcher, Investigator) and Adaptation agents (Fraudster, Rule-Writer) NEVER import or access vault.py. Automated AST lint tests continuously verify zero ground-truth leakage across the entire codebase.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System Architecture &amp; Data Flow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Full architectural topology featuring trust boundaries, orthogonal data buses, and feedback channels</a:t>
            </a:r>
          </a:p>
        </p:txBody>
      </p:sp>
      <p:pic>
        <p:nvPicPr>
          <p:cNvPr id="4" name="Picture 3" descr="shar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Deterministic Verification Tools &amp; Bounded Rulebook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Auditable tools producing statutory findings with zero probabilistic code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6 Deterministic Verification Tools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1: verify_repair_benchmark: </a:t>
            </a:r>
            <a:r>
              <a:rPr sz="1200">
                <a:solidFill>
                  <a:srgbClr val="AAB9CD"/>
                </a:solidFill>
                <a:latin typeface="Segoe UI"/>
              </a:rPr>
              <a:t>Compares garage repair quote against model benchmark cost; flags excessive markup ratios [1.10 - 2.00].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2: check_line_items: </a:t>
            </a:r>
            <a:r>
              <a:rPr sz="1200">
                <a:solidFill>
                  <a:srgbClr val="AAB9CD"/>
                </a:solidFill>
                <a:latin typeface="Segoe UI"/>
              </a:rPr>
              <a:t>Detects invoice arithmetic discrepancies and unrelated line items (e.g., detailing or aftermarket audio).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3: verify_vehicle_registration: </a:t>
            </a:r>
            <a:r>
              <a:rPr sz="1200">
                <a:solidFill>
                  <a:srgbClr val="AAB9CD"/>
                </a:solidFill>
                <a:latin typeface="Segoe UI"/>
              </a:rPr>
              <a:t>Cross-references DVLA registry for valid registration, year mismatch, and active road tax status.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4: check_write_off_salvage: </a:t>
            </a:r>
            <a:r>
              <a:rPr sz="1200">
                <a:solidFill>
                  <a:srgbClr val="AAB9CD"/>
                </a:solidFill>
                <a:latin typeface="Segoe UI"/>
              </a:rPr>
              <a:t>Queries MIAFTR salvage registry for prior non-repairable Category A/B total loss history.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5: check_prior_damage: </a:t>
            </a:r>
            <a:r>
              <a:rPr sz="1200">
                <a:solidFill>
                  <a:srgbClr val="AAB9CD"/>
                </a:solidFill>
                <a:latin typeface="Segoe UI"/>
              </a:rPr>
              <a:t>Inspects prior claims database for overlapping body panel damage reported on previous incidents.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Tool 6: flag_network_cluster: </a:t>
            </a:r>
            <a:r>
              <a:rPr sz="1200">
                <a:solidFill>
                  <a:srgbClr val="AAB9CD"/>
                </a:solidFill>
                <a:latin typeface="Segoe UI"/>
              </a:rPr>
              <a:t>Analyzes claimant-provider collision graph density for organized syndicate fraud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12064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B388FF"/>
                </a:solidFill>
                <a:latin typeface="Segoe UI"/>
              </a:defRPr>
            </a:pPr>
            <a:r>
              <a:t>Versioned Rulebook &amp; Scoring Contract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Rulebook Schema (JSON): </a:t>
            </a:r>
            <a:r>
              <a:rPr sz="1200">
                <a:solidFill>
                  <a:srgbClr val="AAB9CD"/>
                </a:solidFill>
                <a:latin typeface="Segoe UI"/>
              </a:rPr>
              <a:t>Declarative, version-controlled rulebook (v1.0.0). Stores active weights, bounds, severity, and change log.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Risk Scoring Formula: </a:t>
            </a:r>
            <a:r>
              <a:rPr sz="1200">
                <a:solidFill>
                  <a:srgbClr val="AAB9CD"/>
                </a:solidFill>
                <a:latin typeface="Segoe UI"/>
              </a:rPr>
              <a:t>Additive scoring: Total Score = Min(100, Sum(Tool Contributions)). Clean baseline: &lt;20; Fraudulent: &gt;=60.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Decoupled Triage: </a:t>
            </a:r>
            <a:r>
              <a:rPr sz="1200">
                <a:solidFill>
                  <a:srgbClr val="AAB9CD"/>
                </a:solidFill>
                <a:latin typeface="Segoe UI"/>
              </a:rPr>
              <a:t>&lt; 25 APPROVE (Fast-track straight through) | 25-59 REFER (Human Adjuster Review) | &gt;= 60 SUSPECTED_FRAUD.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Statutory Findings (TI-02): </a:t>
            </a:r>
            <a:r>
              <a:rPr sz="1200">
                <a:solidFill>
                  <a:srgbClr val="AAB9CD"/>
                </a:solidFill>
                <a:latin typeface="Segoe UI"/>
              </a:rPr>
              <a:t>Every ClaimDecision must contain recorded evidence items. Decisions with empty findings are rejected by contract.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Zero eval() / exec() (TI-04): </a:t>
            </a:r>
            <a:r>
              <a:rPr sz="1200">
                <a:solidFill>
                  <a:srgbClr val="AAB9CD"/>
                </a:solidFill>
                <a:latin typeface="Segoe UI"/>
              </a:rPr>
              <a:t>Rules are parameterised instances of fixed Python templates. No dynamic code generation or string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SAFETY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Multi-Gate Safety Validator &amp; False-Positive Safeguards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Production-grade validation pipeline preventing runaway rules and protecting genuine claimants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AA9FF"/>
                </a:solidFill>
                <a:latin typeface="Segoe UI"/>
              </a:defRPr>
            </a:pPr>
            <a:r>
              <a:t>Gate A: Bounds Check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Schema Verification: </a:t>
            </a:r>
            <a:r>
              <a:rPr sz="1200">
                <a:solidFill>
                  <a:srgbClr val="AAB9CD"/>
                </a:solidFill>
                <a:latin typeface="Segoe UI"/>
              </a:rPr>
              <a:t>Ensures proposed rule targets an existing rule and valid parameter name.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Type Integrity: </a:t>
            </a:r>
            <a:r>
              <a:rPr sz="1200">
                <a:solidFill>
                  <a:srgbClr val="AAB9CD"/>
                </a:solidFill>
                <a:latin typeface="Segoe UI"/>
              </a:rPr>
              <a:t>Validates that numeric parameters remain float/int within legal physical bounds.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Delta Clamping: </a:t>
            </a:r>
            <a:r>
              <a:rPr sz="1200">
                <a:solidFill>
                  <a:srgbClr val="AAB9CD"/>
                </a:solidFill>
                <a:latin typeface="Segoe UI"/>
              </a:rPr>
              <a:t>Limits maximum parameter shift per round (e.g. step &lt;= 0.15) to prevent erratic oscillations.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Template Legality: </a:t>
            </a:r>
            <a:r>
              <a:rPr sz="1200">
                <a:solidFill>
                  <a:srgbClr val="AAB9CD"/>
                </a:solidFill>
                <a:latin typeface="Segoe UI"/>
              </a:rPr>
              <a:t>Rejects any proposal attempting to alter template code or add arbitrary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688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6B8A"/>
                </a:solidFill>
                <a:latin typeface="Segoe UI"/>
              </a:defRPr>
            </a:pPr>
            <a:r>
              <a:t>Gate B: FP Budget Check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Core Safety Gate: </a:t>
            </a:r>
            <a:r>
              <a:rPr sz="1200">
                <a:solidFill>
                  <a:srgbClr val="AAB9CD"/>
                </a:solidFill>
                <a:latin typeface="Segoe UI"/>
              </a:rPr>
              <a:t>Mandatory technical invariant TI-05: safeguards legitimate policyholders.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Validation Dataset: </a:t>
            </a:r>
            <a:r>
              <a:rPr sz="1200">
                <a:solidFill>
                  <a:srgbClr val="AAB9CD"/>
                </a:solidFill>
                <a:latin typeface="Segoe UI"/>
              </a:rPr>
              <a:t>Re-scores candidate rule against 40 fixed synthetic genuine claims (fraud_share=0.0).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Budget Formula: </a:t>
            </a:r>
            <a:r>
              <a:rPr sz="1200">
                <a:solidFill>
                  <a:srgbClr val="AAB9CD"/>
                </a:solidFill>
                <a:latin typeface="Segoe UI"/>
              </a:rPr>
              <a:t>Requires: Candidate FPR &lt;= fp_budget (default 0.10 or 10% tolerance).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Empirical Safeguard: </a:t>
            </a:r>
            <a:r>
              <a:rPr sz="1200">
                <a:solidFill>
                  <a:srgbClr val="AAB9CD"/>
                </a:solidFill>
                <a:latin typeface="Segoe UI"/>
              </a:rPr>
              <a:t>Rejects candidate rule if validation false alarms exceed budget; preserves active rulebook.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688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9457"/>
                </a:solidFill>
                <a:latin typeface="Segoe UI"/>
              </a:defRPr>
            </a:pPr>
            <a:r>
              <a:t>Gate C: Non-Regression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Golden Set Testing: </a:t>
            </a:r>
            <a:r>
              <a:rPr sz="1200">
                <a:solidFill>
                  <a:srgbClr val="AAB9CD"/>
                </a:solidFill>
                <a:latin typeface="Segoe UI"/>
              </a:rPr>
              <a:t>Executes rule against historical confirmed fraud cases.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Recall Preservation: </a:t>
            </a:r>
            <a:r>
              <a:rPr sz="1200">
                <a:solidFill>
                  <a:srgbClr val="AAB9CD"/>
                </a:solidFill>
                <a:latin typeface="Segoe UI"/>
              </a:rPr>
              <a:t>Ensures newly proposed rule does not miss previously detected fraud typologies.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Anti-Catastrophic Forgetting: </a:t>
            </a:r>
            <a:r>
              <a:rPr sz="1200">
                <a:solidFill>
                  <a:srgbClr val="AAB9CD"/>
                </a:solidFill>
                <a:latin typeface="Segoe UI"/>
              </a:rPr>
              <a:t>Prevents over-fitting to current round at the expense of past controls.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Regression Audit: </a:t>
            </a:r>
            <a:r>
              <a:rPr sz="1200">
                <a:solidFill>
                  <a:srgbClr val="AAB9CD"/>
                </a:solidFill>
                <a:latin typeface="Segoe UI"/>
              </a:rPr>
              <a:t>Logs regression failures directly to the permanent audit trail.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688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Gate D: Diagnostic Audit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Rationale Required: </a:t>
            </a:r>
            <a:r>
              <a:rPr sz="1200">
                <a:solidFill>
                  <a:srgbClr val="AAB9CD"/>
                </a:solidFill>
                <a:latin typeface="Segoe UI"/>
              </a:rPr>
              <a:t>Rejects proposals lacking an explicit, auditable diagnostic justification.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Diagnostic Linkage: </a:t>
            </a:r>
            <a:r>
              <a:rPr sz="1200">
                <a:solidFill>
                  <a:srgbClr val="AAB9CD"/>
                </a:solidFill>
                <a:latin typeface="Segoe UI"/>
              </a:rPr>
              <a:t>Requires proposal to address an evasive typology reported by the Critic.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Version Promotion: </a:t>
            </a:r>
            <a:r>
              <a:rPr sz="1200">
                <a:solidFill>
                  <a:srgbClr val="AAB9CD"/>
                </a:solidFill>
                <a:latin typeface="Segoe UI"/>
              </a:rPr>
              <a:t>On passing all 4 gates, Rulebook is cloned and version incremented (v1.0.0 -&gt; v1.1.0).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Safe Fallback: </a:t>
            </a:r>
            <a:r>
              <a:rPr sz="1200">
                <a:solidFill>
                  <a:srgbClr val="AAB9CD"/>
                </a:solidFill>
                <a:latin typeface="Segoe UI"/>
              </a:rPr>
              <a:t>On rejection, original rulebook is preserved untouched without disrupting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EMPIRICAL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Empirical Results: Benchmark &amp; Adaptive Calibration Runs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Measured results from two distinct experiment configurations (base seed 42, zero mock 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097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6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400" b="1">
                <a:solidFill>
                  <a:srgbClr val="6AA9FF"/>
                </a:solidFill>
                <a:latin typeface="Segoe UI"/>
              </a:defRPr>
            </a:pPr>
            <a:r>
              <a:t>90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Claims per Benchmark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1097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400" b="1">
                <a:solidFill>
                  <a:srgbClr val="02C39A"/>
                </a:solidFill>
                <a:latin typeface="Segoe U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Findings Coverage (540/540)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1097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400" b="1">
                <a:solidFill>
                  <a:srgbClr val="B388FF"/>
                </a:solidFill>
                <a:latin typeface="Segoe UI"/>
              </a:defRPr>
            </a:pPr>
            <a:r>
              <a:t>0.00%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Baseline Benchmark FPR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1097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FF9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400" b="1">
                <a:solidFill>
                  <a:srgbClr val="FF9457"/>
                </a:solidFill>
                <a:latin typeface="Segoe UI"/>
              </a:defRPr>
            </a:pPr>
            <a:r>
              <a:t>v1.0.0 -&gt; v1.1.0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Adaptive Run Mutation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Experiment A: Standard Seeded Benchmark (Default v1.0.0)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1 (30 claims): </a:t>
            </a:r>
            <a:r>
              <a:rPr sz="1200">
                <a:solidFill>
                  <a:srgbClr val="AAB9CD"/>
                </a:solidFill>
                <a:latin typeface="Segoe UI"/>
              </a:rPr>
              <a:t>Precision: 100.0% · Recall: 100.0% · F1: 1.000 · FPR: 0.00% (9 TP, 21 TN). Version 1.0.0.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2 (30 claims): </a:t>
            </a:r>
            <a:r>
              <a:rPr sz="1200">
                <a:solidFill>
                  <a:srgbClr val="AAB9CD"/>
                </a:solidFill>
                <a:latin typeface="Segoe UI"/>
              </a:rPr>
              <a:t>Precision: 100.0% · Recall: 100.0% · F1: 1.000 · FPR: 0.00% (9 TP, 21 TN). Version 1.0.0.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3 (30 claims): </a:t>
            </a:r>
            <a:r>
              <a:rPr sz="1200">
                <a:solidFill>
                  <a:srgbClr val="AAB9CD"/>
                </a:solidFill>
                <a:latin typeface="Segoe UI"/>
              </a:rPr>
              <a:t>Precision: 100.0% · Recall: 100.0% · F1: 1.000 · FPR: 0.00% (9 TP, 21 TN). Version 1.0.0.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Audit Verification: </a:t>
            </a:r>
            <a:r>
              <a:rPr sz="1200">
                <a:solidFill>
                  <a:srgbClr val="AAB9CD"/>
                </a:solidFill>
                <a:latin typeface="Segoe UI"/>
              </a:rPr>
              <a:t>540 total findings logged across 90 claims (100% coverage, 0 empty findings).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No Proposals Triggered: </a:t>
            </a:r>
            <a:r>
              <a:rPr sz="1200">
                <a:solidFill>
                  <a:srgbClr val="AAB9CD"/>
                </a:solidFill>
                <a:latin typeface="Segoe UI"/>
              </a:rPr>
              <a:t>0 false negatives in baseline -&gt; Rule-Writer correctly generates 0 proposals.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120640" cy="33832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9457"/>
                </a:solidFill>
                <a:latin typeface="Segoe UI"/>
              </a:defRPr>
            </a:pPr>
            <a:r>
              <a:t>Experiment B: Adaptive Calibration Run (Relaxed Initial Markup 1.60)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1 Baseline: </a:t>
            </a:r>
            <a:r>
              <a:rPr sz="1200">
                <a:solidFill>
                  <a:srgbClr val="AAB9CD"/>
                </a:solidFill>
                <a:latin typeface="Segoe UI"/>
              </a:rPr>
              <a:t>Precision: 100.0% · Recall: 100.0% · F1: 1.000 · Rulebook v1.0.0 (12 TP, 18 TN).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2 Adversarial Shift: </a:t>
            </a:r>
            <a:r>
              <a:rPr sz="1200">
                <a:solidFill>
                  <a:srgbClr val="AAB9CD"/>
                </a:solidFill>
                <a:latin typeface="Segoe UI"/>
              </a:rPr>
              <a:t>Fraudster shifts attack -&gt; 3 opportunistic inflation claims evade detection (Rec: 75.0%, F1: 0.857).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Rule-Writer Proposal: </a:t>
            </a:r>
            <a:r>
              <a:rPr sz="1200">
                <a:solidFill>
                  <a:srgbClr val="AAB9CD"/>
                </a:solidFill>
                <a:latin typeface="Segoe UI"/>
              </a:rPr>
              <a:t>Proposes tightening RULE_LINE_ITEM_ARITHMETIC (max_discrepancy 1.0 -&gt; 0.5) to catch invoice padding.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Gate B Validation: </a:t>
            </a:r>
            <a:r>
              <a:rPr sz="1200">
                <a:solidFill>
                  <a:srgbClr val="AAB9CD"/>
                </a:solidFill>
                <a:latin typeface="Segoe UI"/>
              </a:rPr>
              <a:t>Candidate tested on 40 genuine validation claims; FP rate = 0.0% &lt;= 10% budget. PROPOSAL ACCEPTED!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Round 3 Adaptation Effect: </a:t>
            </a:r>
            <a:r>
              <a:rPr sz="1200">
                <a:solidFill>
                  <a:srgbClr val="AAB9CD"/>
                </a:solidFill>
                <a:latin typeface="Segoe UI"/>
              </a:rPr>
              <a:t>Rulebook promotes to v1.1.0. Recall on new cohort is 83.33%, F1 score is 0.9091!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Technical Invariants &amp; Comprehensive Verification Evidence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Rigorous automated testing evidence confirming all 12 core invariants (TI-01 to TI-12)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Core Invariants Verification Matrix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TI-01: Ground-Truth Isolation: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AST lint test proves Planner, Researcher, Investigator NEVER import vault.py.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TI-02: Recorded Findings Mandate: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ClaimDecision requires non-empty findings list; 540 findings logged, 0 empty.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TI-03: Real Measured Metrics: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Critic computes metrics strictly from confusion matrix; zero mock numbers.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TI-04: Bounded Templates: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Parametric adjustments only; AST verification confirms 0 eval() or exec() calls.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TI-05: Gate B FP Budget Safeguard: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Candidate rule updates strictly checked against FP budget on genuine validation set.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TI-07: Bit-Identical Reproducibility: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Base seed 42 produces identical runs across duplicate executions.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TI-11: Decoupled Triage: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3-way triage (Approve/Refer/Suspected Fraud) decoupled from GT truth.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TI-12: Session State Data Binding: </a:t>
            </a:r>
            <a:r>
              <a:rPr sz="1200">
                <a:solidFill>
                  <a:srgbClr val="AAB9CD"/>
                </a:solidFill>
                <a:latin typeface="Segoe UI"/>
              </a:rPr>
              <a:t>VERIFIED — Streamlit UI exclusively renders executed pipeline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120640" cy="393192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AA9FF"/>
                </a:solidFill>
                <a:latin typeface="Segoe UI"/>
              </a:defRPr>
            </a:pPr>
            <a:r>
              <a:t>Test Suite Execution Summary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Pytest Execution: </a:t>
            </a:r>
            <a:r>
              <a:rPr sz="1200">
                <a:solidFill>
                  <a:srgbClr val="AAB9CD"/>
                </a:solidFill>
                <a:latin typeface="Segoe UI"/>
              </a:rPr>
              <a:t>146 passing tests executed across 10 test modules in 34.16 seconds.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test_generator.py (20 tests): </a:t>
            </a:r>
            <a:r>
              <a:rPr sz="1200">
                <a:solidFill>
                  <a:srgbClr val="AAB9CD"/>
                </a:solidFill>
                <a:latin typeface="Segoe UI"/>
              </a:rPr>
              <a:t>Schema integrity, UK motor realism, and deterministic seed reproducibility.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test_rulebook.py (20 tests): </a:t>
            </a:r>
            <a:r>
              <a:rPr sz="1200">
                <a:solidFill>
                  <a:srgbClr val="AAB9CD"/>
                </a:solidFill>
                <a:latin typeface="Segoe UI"/>
              </a:rPr>
              <a:t>Rulebook cloning, scoring thresholds, version bumping, and findings mandate.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test_tools.py (14 tests): </a:t>
            </a:r>
            <a:r>
              <a:rPr sz="1200">
                <a:solidFill>
                  <a:srgbClr val="AAB9CD"/>
                </a:solidFill>
                <a:latin typeface="Segoe UI"/>
              </a:rPr>
              <a:t>Deterministic tool execution across all 6 verification checks.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test_agents.py (12 tests): </a:t>
            </a:r>
            <a:r>
              <a:rPr sz="1200">
                <a:solidFill>
                  <a:srgbClr val="AAB9CD"/>
                </a:solidFill>
                <a:latin typeface="Segoe UI"/>
              </a:rPr>
              <a:t>Planner step selection, Researcher bundle compilation, Investigator decisions.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test_critic.py (16 tests): </a:t>
            </a:r>
            <a:r>
              <a:rPr sz="1200">
                <a:solidFill>
                  <a:srgbClr val="AAB9CD"/>
                </a:solidFill>
                <a:latin typeface="Segoe UI"/>
              </a:rPr>
              <a:t>Confusion matrix math, consistency violation audits, and GT isolation AST.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test_fraudster.py (11 tests): </a:t>
            </a:r>
            <a:r>
              <a:rPr sz="1200">
                <a:solidFill>
                  <a:srgbClr val="AAB9CD"/>
                </a:solidFill>
                <a:latin typeface="Segoe UI"/>
              </a:rPr>
              <a:t>Dirichlet weight adjustments, bounds enforcement, and feedback handling.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test_rule_writer.py (16 tests): </a:t>
            </a:r>
            <a:r>
              <a:rPr sz="1200">
                <a:solidFill>
                  <a:srgbClr val="AAB9CD"/>
                </a:solidFill>
                <a:latin typeface="Segoe UI"/>
              </a:rPr>
              <a:t>Template bounding, Gate A-D validation, and Gate B FP budget rejection.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test_orchestrator.py (16 tests): </a:t>
            </a:r>
            <a:r>
              <a:rPr sz="1200">
                <a:solidFill>
                  <a:srgbClr val="AAB9CD"/>
                </a:solidFill>
                <a:latin typeface="Segoe UI"/>
              </a:rPr>
              <a:t>Multi-round closed loop, early stopping, and audit completeness.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test_audit.py (10 tests) &amp; test_ui.py (11 tests): </a:t>
            </a:r>
            <a:r>
              <a:rPr sz="1200">
                <a:solidFill>
                  <a:srgbClr val="AAB9CD"/>
                </a:solidFill>
                <a:latin typeface="Segoe UI"/>
              </a:rPr>
              <a:t>Append-only JSONL logging and Streamlit AppTest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12231E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2C39A"/>
                </a:solidFill>
                <a:latin typeface="Segoe UI"/>
              </a:defRPr>
            </a:pPr>
            <a:r>
              <a:t>100% AUTOMATED TEST SUITE PASS: 146 passed across 10 test modules in 34.16s (Python 3.14.6)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142D4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2C39A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Limitations, Production Roadmap, and Viva Summary</a:t>
            </a:r>
          </a:p>
          <a:p>
            <a:pPr>
              <a:defRPr sz="1300">
                <a:solidFill>
                  <a:srgbClr val="AAB9CD"/>
                </a:solidFill>
                <a:latin typeface="Segoe UI"/>
              </a:defRPr>
            </a:pPr>
            <a:r>
              <a:t>Transparent appraisal of current proof-of-concept boundaries and future production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FF9457"/>
                </a:solidFill>
                <a:latin typeface="Segoe UI"/>
              </a:defRPr>
            </a:pPr>
            <a:r>
              <a:t>PoC Scope Boundaries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Synthetic UK Motor Data: </a:t>
            </a:r>
            <a:r>
              <a:rPr sz="1200">
                <a:solidFill>
                  <a:srgbClr val="AAB9CD"/>
                </a:solidFill>
                <a:latin typeface="Segoe UI"/>
              </a:rPr>
              <a:t>Trained and tested on realistic synthetic motor claims; does not ingest real policyholder PII.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Rule-Based Investigation: </a:t>
            </a:r>
            <a:r>
              <a:rPr sz="1200">
                <a:solidFill>
                  <a:srgbClr val="AAB9CD"/>
                </a:solidFill>
                <a:latin typeface="Segoe UI"/>
              </a:rPr>
              <a:t>Relies on deterministic mathematical tools rather than multi-modal physical image inspection.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Stateless Registries: </a:t>
            </a:r>
            <a:r>
              <a:rPr sz="1200">
                <a:solidFill>
                  <a:srgbClr val="AAB9CD"/>
                </a:solidFill>
                <a:latin typeface="Segoe UI"/>
              </a:rPr>
              <a:t>DVLA and MIAFTR databases are simulated locally in-memory rather than live REST endpoints.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Parametric Adaptation: </a:t>
            </a:r>
            <a:r>
              <a:rPr sz="1200">
                <a:solidFill>
                  <a:srgbClr val="AAB9CD"/>
                </a:solidFill>
                <a:latin typeface="Segoe UI"/>
              </a:rPr>
              <a:t>Rule updates tune parameters of pre-approved templates rather than synthesizing novel logic.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Single Insurance Domain: </a:t>
            </a:r>
            <a:r>
              <a:rPr sz="1200">
                <a:solidFill>
                  <a:srgbClr val="AAB9CD"/>
                </a:solidFill>
                <a:latin typeface="Segoe UI"/>
              </a:rPr>
              <a:t>Focuses deeply on motor insurance fraud rather than commercial liability or health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AA9FF"/>
                </a:solidFill>
                <a:latin typeface="Segoe UI"/>
              </a:defRPr>
            </a:pPr>
            <a:r>
              <a:t>Production Roadmap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Local Offline LLMs: </a:t>
            </a:r>
            <a:r>
              <a:rPr sz="1200">
                <a:solidFill>
                  <a:srgbClr val="AAB9CD"/>
                </a:solidFill>
                <a:latin typeface="Segoe UI"/>
              </a:rPr>
              <a:t>Integrate Ollama (Mistral/Llama-3) strictly for drafting natural language adjuster explanations.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Live Registry APIs: </a:t>
            </a:r>
            <a:r>
              <a:rPr sz="1200">
                <a:solidFill>
                  <a:srgbClr val="AAB9CD"/>
                </a:solidFill>
                <a:latin typeface="Segoe UI"/>
              </a:rPr>
              <a:t>Connect real read-only adapters to DVLA Vehicle Enquiry Service and MIAFTR database.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Computer Vision Module: </a:t>
            </a:r>
            <a:r>
              <a:rPr sz="1200">
                <a:solidFill>
                  <a:srgbClr val="AAB9CD"/>
                </a:solidFill>
                <a:latin typeface="Segoe UI"/>
              </a:rPr>
              <a:t>Incorporate lightweight on-device vision models for automated crash damage photographic review.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Enterprise RBAC: </a:t>
            </a:r>
            <a:r>
              <a:rPr sz="1200">
                <a:solidFill>
                  <a:srgbClr val="AAB9CD"/>
                </a:solidFill>
                <a:latin typeface="Segoe UI"/>
              </a:rPr>
              <a:t>Implement role-based access control and SIEM-integrated audit logging.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Cross-Line Insurance: </a:t>
            </a:r>
            <a:r>
              <a:rPr sz="1200">
                <a:solidFill>
                  <a:srgbClr val="AAB9CD"/>
                </a:solidFill>
                <a:latin typeface="Segoe UI"/>
              </a:rPr>
              <a:t>Expand template catalogue to commercial fleet, property damage, and personal injury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2C39A"/>
                </a:solidFill>
                <a:latin typeface="Segoe UI"/>
              </a:defRPr>
            </a:pPr>
            <a:r>
              <a:t>Academic Viva Summary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Delivered PoC: </a:t>
            </a:r>
            <a:r>
              <a:rPr sz="1200">
                <a:solidFill>
                  <a:srgbClr val="AAB9CD"/>
                </a:solidFill>
                <a:latin typeface="Segoe UI"/>
              </a:rPr>
              <a:t>Complete, testable, working multi-agent system meeting all CA-3 requirements.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True Closed Loop: </a:t>
            </a:r>
            <a:r>
              <a:rPr sz="1200">
                <a:solidFill>
                  <a:srgbClr val="AAB9CD"/>
                </a:solidFill>
                <a:latin typeface="Segoe UI"/>
              </a:rPr>
              <a:t>Real adversarial feedback where fraud evasion directly drives safe, validated rule updates.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Zero Fabrication: </a:t>
            </a:r>
            <a:r>
              <a:rPr sz="1200">
                <a:solidFill>
                  <a:srgbClr val="AAB9CD"/>
                </a:solidFill>
                <a:latin typeface="Segoe UI"/>
              </a:rPr>
              <a:t>Every single metric presented in Streamlit and report comes from actual executed code.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Auditable Safety: </a:t>
            </a:r>
            <a:r>
              <a:rPr sz="1200">
                <a:solidFill>
                  <a:srgbClr val="AAB9CD"/>
                </a:solidFill>
                <a:latin typeface="Segoe UI"/>
              </a:rPr>
              <a:t>Multi-gate safety validator enforces false-positive budget on frozen genuine validation set.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• Local Offline Execution: </a:t>
            </a:r>
            <a:r>
              <a:rPr sz="1200">
                <a:solidFill>
                  <a:srgbClr val="AAB9CD"/>
                </a:solidFill>
                <a:latin typeface="Segoe UI"/>
              </a:rPr>
              <a:t>0 paid APIs or remote keys; runs on standard pinned Python packages in 5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